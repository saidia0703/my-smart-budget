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292608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502920" cy="2926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74320"/>
            <a:ext cx="960120" cy="960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7472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MSB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My Smart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0C8E0"/>
                </a:solidFill>
                <a:latin typeface="Calibri"/>
              </a:rPr>
              <a:t>Application web de gestion budgétaire personnalisée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434840"/>
            <a:ext cx="146304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4602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Next.js 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4434840"/>
            <a:ext cx="146304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44602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Node.js + Express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4434840"/>
            <a:ext cx="146304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44602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4434840"/>
            <a:ext cx="146304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44602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4434840"/>
            <a:ext cx="146304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44602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0B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C8E0"/>
                </a:solidFill>
                <a:latin typeface="Calibri"/>
              </a:rPr>
              <a:t>Titre CDA — Concepteur Développeur d'Applications  |  Colint School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Plan de présentation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C8E0"/>
                </a:solidFill>
                <a:latin typeface="Calibri"/>
              </a:rPr>
              <a:t>~60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5669280" cy="7498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502920" cy="7498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21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96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Introduction en anglais (QQOQCP)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9964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366F1"/>
                </a:solidFill>
                <a:latin typeface="Calibri"/>
              </a:rPr>
              <a:t>5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88920"/>
            <a:ext cx="5669280" cy="7498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88920"/>
            <a:ext cx="502920" cy="7498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905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65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865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366F1"/>
                </a:solidFill>
                <a:latin typeface="Calibri"/>
              </a:rPr>
              <a:t>5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57600"/>
            <a:ext cx="5669280" cy="7498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657600"/>
            <a:ext cx="502920" cy="7498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59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33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Méthodologie &amp; organisation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7338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855F7"/>
                </a:solidFill>
                <a:latin typeface="Calibri"/>
              </a:rPr>
              <a:t>5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26280"/>
            <a:ext cx="5669280" cy="7498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526280"/>
            <a:ext cx="502920" cy="7498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6278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602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Conception : architecture, BDD, UML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6024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855F7"/>
                </a:solidFill>
                <a:latin typeface="Calibri"/>
              </a:rPr>
              <a:t>10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394960"/>
            <a:ext cx="5669280" cy="7498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394960"/>
            <a:ext cx="502920" cy="7498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496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471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Démonstration 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54711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4D399"/>
                </a:solidFill>
                <a:latin typeface="Calibri"/>
              </a:rPr>
              <a:t>8 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1920240"/>
            <a:ext cx="5669280" cy="7498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46520" y="1920240"/>
            <a:ext cx="502920" cy="7498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021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1996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Code Frontend — points clés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19964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366F1"/>
                </a:solidFill>
                <a:latin typeface="Calibri"/>
              </a:rPr>
              <a:t>7 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2788920"/>
            <a:ext cx="5669280" cy="7498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46520" y="2788920"/>
            <a:ext cx="502920" cy="7498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28905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2865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Code Backend &amp; API REST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2865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366F1"/>
                </a:solidFill>
                <a:latin typeface="Calibri"/>
              </a:rPr>
              <a:t>7 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3657600"/>
            <a:ext cx="5669280" cy="7498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46520" y="3657600"/>
            <a:ext cx="502920" cy="7498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3759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3733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Sécurité applicative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37338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87171"/>
                </a:solidFill>
                <a:latin typeface="Calibri"/>
              </a:rPr>
              <a:t>5 min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20" y="4526280"/>
            <a:ext cx="5669280" cy="7498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46520" y="4526280"/>
            <a:ext cx="502920" cy="7498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46278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4602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Tests &amp; qualité SonarCloud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46024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D700"/>
                </a:solidFill>
                <a:latin typeface="Calibri"/>
              </a:rPr>
              <a:t>4 min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46520" y="5394960"/>
            <a:ext cx="5669280" cy="7498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46520" y="5394960"/>
            <a:ext cx="502920" cy="7498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5496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0" y="5471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Déploiement Docker &amp; DevOps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54711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4D399"/>
                </a:solidFill>
                <a:latin typeface="Calibri"/>
              </a:rPr>
              <a:t>4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01 — 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Introduction — QQOQCP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C8E0"/>
                </a:solidFill>
                <a:latin typeface="Calibri"/>
              </a:rPr>
              <a:t>Présentation en anglais • 5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5669280" cy="128016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1188720" cy="1280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WHO?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103120"/>
            <a:ext cx="4160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Students, employees and families who want to manage their personal finances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37560"/>
            <a:ext cx="5669280" cy="128016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37560"/>
            <a:ext cx="1188720" cy="1280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7033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WHAT?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520440"/>
            <a:ext cx="4160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A full-stack web app to track income, expenses, budgets, goals &amp; reports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54880"/>
            <a:ext cx="5669280" cy="128016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754880"/>
            <a:ext cx="1188720" cy="1280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1206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WHERE?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37760"/>
            <a:ext cx="4160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Accessible via web browser — deployed online with Docker containers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1920240"/>
            <a:ext cx="5669280" cy="128016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1920240"/>
            <a:ext cx="1188720" cy="1280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2860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WHEN?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103120"/>
            <a:ext cx="4160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Developed over ~6 months during my work-study program (2024–2025)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337560"/>
            <a:ext cx="5669280" cy="128016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3337560"/>
            <a:ext cx="1188720" cy="1280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7033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HOW?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520440"/>
            <a:ext cx="4160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Next.js + Node.js/Express + PostgreSQL + MongoDB + Docker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4754880"/>
            <a:ext cx="5669280" cy="128016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4754880"/>
            <a:ext cx="1188720" cy="1280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1206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WHY?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937760"/>
            <a:ext cx="4160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People struggle without the right tools — MSB provides a smart, secure, personalized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02 —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Contexte &amp; Fonctionnalités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C8E0"/>
                </a:solidFill>
                <a:latin typeface="Calibri"/>
              </a:rPr>
              <a:t>Une application adaptée à chaque profil utilisateur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394960" cy="96012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Problématique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Comment aider les particuliers à mieux gérer leur budget avec une expérience personnalisée selon leur profil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17520"/>
            <a:ext cx="1691640" cy="100584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4495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Étudiant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76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E0"/>
                </a:solidFill>
                <a:latin typeface="Calibri"/>
              </a:rPr>
              <a:t>Budget serré, revenus variables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3017520"/>
            <a:ext cx="1691640" cy="100584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304495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3832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Salarié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6576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E0"/>
                </a:solidFill>
                <a:latin typeface="Calibri"/>
              </a:rPr>
              <a:t>Revenus fixes, projets long terme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3017520"/>
            <a:ext cx="1691640" cy="100584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304495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👨‍👩‍👧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3832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Famille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36576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E0"/>
                </a:solidFill>
                <a:latin typeface="Calibri"/>
              </a:rPr>
              <a:t>Multi-personnes, dépenses partagées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1874519"/>
            <a:ext cx="5669280" cy="475488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965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Fonctionnalités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377440"/>
            <a:ext cx="256032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3591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Inscription / connexion sécurisée (JWT + bcrypt)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898647"/>
            <a:ext cx="256032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880359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Questionnaire d'onboarding personnalisé (7 étapes)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419854"/>
            <a:ext cx="256032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40156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Dashboard avec statistiques temps réel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941061"/>
            <a:ext cx="256032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922773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CRUD Transactions avec protection IDOR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462268"/>
            <a:ext cx="256032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44439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Gestion des budgets par catégorie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983475"/>
            <a:ext cx="256032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4965187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Objectifs d'épargne (Goals)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5504682"/>
            <a:ext cx="256032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548639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Rapports analytiques (MongoDB)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6025889"/>
            <a:ext cx="256032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6007601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Interface responsive mobile + desktop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03 — 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Méthodologie &amp; Organisation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C8E0"/>
                </a:solidFill>
                <a:latin typeface="Calibri"/>
              </a:rPr>
              <a:t>Approche Agile adaptée — outils professionnels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48056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366F1"/>
                </a:solidFill>
                <a:latin typeface="Calibri"/>
              </a:rPr>
              <a:t>Méthode Agile / Scrum Solo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1371600" cy="45720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654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  <a:latin typeface="Calibri"/>
              </a:rPr>
              <a:t>Sprints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5654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1 à 2 semaines par fonctionnalité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127248"/>
            <a:ext cx="1371600" cy="45720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780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  <a:latin typeface="Calibri"/>
              </a:rPr>
              <a:t>Backlog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1780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Items priorisés par valeur métier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739896"/>
            <a:ext cx="1371600" cy="45720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906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  <a:latin typeface="Calibri"/>
              </a:rPr>
              <a:t>Git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79069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Branches feat/, fix/, docs/ + main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352544"/>
            <a:ext cx="1371600" cy="45720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4033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  <a:latin typeface="Calibri"/>
              </a:rPr>
              <a:t>Commits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40334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Conventionnels : feat, fix, refactor, docs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965192"/>
            <a:ext cx="1371600" cy="45720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1599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  <a:latin typeface="Calibri"/>
              </a:rPr>
              <a:t>Code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0159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SonarCloud à chaque push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577840"/>
            <a:ext cx="1371600" cy="45720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6286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  <a:latin typeface="Calibri"/>
              </a:rPr>
              <a:t>Retrospective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6286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Ajustement de l'architecture si nécessaire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874519"/>
            <a:ext cx="5486400" cy="448056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55F7"/>
                </a:solidFill>
                <a:latin typeface="Calibri"/>
              </a:rPr>
              <a:t>Stack &amp; Outils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▸  Frontend: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2468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Next.js 15 · React 19 · TypeScript · Tailwind CSS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9169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▸  Backend: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91693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Node.js · Express · REST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3649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▸  BDD SQL: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336499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PostgreSQL 16 · pg-promise · indexes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8130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▸  BDD NoSQL: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38130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MongoDB 7 · Mongoose ODM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611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▸  Sécurité: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426110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JWT · bcrypt · Helmet · Rate Limit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709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▸  Tests: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709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Jest · Supertest · coverage lcov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1572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▸  DevOps: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515721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Docker · Docker Compose · Docker Hub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6052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▸  Qualité: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56052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SonarCloud · ESLint · TypeScript strict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60533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▸  IDE &amp; VCS: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60533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VS Code ·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04 —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Architecture 3 Tiers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C8E0"/>
                </a:solidFill>
                <a:latin typeface="Calibri"/>
              </a:rPr>
              <a:t>Séparation stricte des responsabilités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103327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365760" cy="1033271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97611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COUCHE PRÉSENTATION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76119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Next.js 15 + React 19 +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3825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Tailwind CSS · Recharts · App Router · Composants réutilisables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90779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366F1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90670"/>
            <a:ext cx="11247120" cy="103327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090670"/>
            <a:ext cx="365760" cy="1033271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19227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  <a:latin typeface="Calibri"/>
              </a:rPr>
              <a:t>COUCHE MÉTIER (API REST)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9227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Node.js + Express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9867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Middleware JWT · Helmet · Rate Limiting · Validation · ownerGuard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123941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366F1"/>
                </a:solidFill>
                <a:latin typeface="Calibri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306821"/>
            <a:ext cx="11247120" cy="103327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306821"/>
            <a:ext cx="365760" cy="1033271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408421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COUCHE ACCÈS DONNÉES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408421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pg-promise (PostgreSQL) · Mongoose (MongoDB)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81482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Requêtes paramétrées · Indexes · Upsert · Agrégations 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534009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366F1"/>
                </a:solidFill>
                <a:latin typeface="Calibr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522972"/>
            <a:ext cx="11247120" cy="103327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522972"/>
            <a:ext cx="365760" cy="1033271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6245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COUCHE PERSISTANCE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624572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PostgreSQL 16 · MongoDB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60309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ACID · Intégrité référentielle · Schéma flexible NoSQL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04 — BDD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Conception Base de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C8E0"/>
                </a:solidFill>
                <a:latin typeface="Calibri"/>
              </a:rPr>
              <a:t>PostgreSQL (relationnel) + MongoDB (NoSQL)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393192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12619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58567"/>
            <a:ext cx="3931920" cy="2926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4520" y="2296667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id (PK)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51175"/>
            <a:ext cx="3931920" cy="292608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520" y="2589275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43783"/>
            <a:ext cx="3931920" cy="2926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520" y="2881883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email (UNIQUE)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36391"/>
            <a:ext cx="3931920" cy="292608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4520" y="3174491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password (bcrypt)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28999"/>
            <a:ext cx="3931920" cy="2926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4520" y="3467099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created_at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21607"/>
            <a:ext cx="3931920" cy="292608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4520" y="3759707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updated_at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1874519"/>
            <a:ext cx="393192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1912619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transactions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2258567"/>
            <a:ext cx="3931920" cy="2926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19320" y="2296667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id (PK)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2551175"/>
            <a:ext cx="3931920" cy="292608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19320" y="2589275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user_id (FK→users)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2843783"/>
            <a:ext cx="3931920" cy="2926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19320" y="2881883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name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3136391"/>
            <a:ext cx="3931920" cy="292608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9320" y="3174491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category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3428999"/>
            <a:ext cx="3931920" cy="2926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19320" y="3467099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amount DECIMAL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3721607"/>
            <a:ext cx="3931920" cy="292608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9320" y="3759707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4014215"/>
            <a:ext cx="3931920" cy="2926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19320" y="4052315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is_recurring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7720" y="4306823"/>
            <a:ext cx="3931920" cy="292608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19320" y="4344923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updated_at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160519"/>
            <a:ext cx="393192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198619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budgets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544567"/>
            <a:ext cx="3931920" cy="2926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4520" y="4582667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id (PK)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837175"/>
            <a:ext cx="3931920" cy="292608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4520" y="4875275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user_id (FK→users)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129783"/>
            <a:ext cx="3931920" cy="2926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4520" y="5167883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category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422391"/>
            <a:ext cx="3931920" cy="292608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4520" y="5460491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limit DECIMAL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714999"/>
            <a:ext cx="3931920" cy="2926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4520" y="5753099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created_at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17720" y="4160519"/>
            <a:ext cx="393192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17720" y="4198619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user_profiles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17720" y="4544567"/>
            <a:ext cx="3931920" cy="2926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19320" y="4582667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user_id (PK/FK)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17720" y="4837175"/>
            <a:ext cx="3931920" cy="292608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19320" y="4875275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profile_type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17720" y="5129783"/>
            <a:ext cx="3931920" cy="2926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19320" y="5167883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revenus_mensuels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17720" y="5422391"/>
            <a:ext cx="3931920" cy="292608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19320" y="5460491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situation_familiale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17720" y="5714999"/>
            <a:ext cx="3931920" cy="292608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19320" y="5753099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objectifs_epargne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17720" y="6007607"/>
            <a:ext cx="3931920" cy="292608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19320" y="6045707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categories_prioritaires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49640" y="1874519"/>
            <a:ext cx="3200400" cy="466344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549640" y="1874519"/>
            <a:ext cx="320040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49640" y="190195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Report (MongoDB)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32520" y="233172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_id: ObjectId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32520" y="267919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userId: String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20" y="302666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title: String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32520" y="337413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description: String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32520" y="3721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alibri"/>
              </a:rPr>
              <a:t>type: monthly|yearly|custom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32520" y="406908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data: Mixed  { "montant": ..., }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32520" y="441655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createdAt: ISODate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32520" y="476402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updatedAt: ISODate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49640" y="6217920"/>
            <a:ext cx="3200400" cy="32004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49640" y="62453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  <a:latin typeface="Calibri"/>
              </a:rPr>
              <a:t>Schéma flexible — pas de migration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04 — SÉQUENCE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Diagramme de Séquence — Authentification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C8E0"/>
                </a:solidFill>
                <a:latin typeface="Calibri"/>
              </a:rPr>
              <a:t>Flux : Inscription sécurisée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10972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Utilisateur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350" y="2377440"/>
            <a:ext cx="38100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1874519"/>
            <a:ext cx="1097280" cy="5029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9202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Frontend
(Next.js)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5670" y="2377440"/>
            <a:ext cx="38100" cy="4114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874519"/>
            <a:ext cx="1097280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9202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Backend
(Express)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64630" y="2377440"/>
            <a:ext cx="38100" cy="4114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9760" y="1874519"/>
            <a:ext cx="109728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9202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39350" y="2377440"/>
            <a:ext cx="38100" cy="4114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2799080"/>
            <a:ext cx="256032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3120" y="2697480"/>
            <a:ext cx="17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545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POST /register  (email, password, name)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3164840"/>
            <a:ext cx="3108960" cy="19050"/>
          </a:xfrm>
          <a:prstGeom prst="rect">
            <a:avLst/>
          </a:prstGeom>
          <a:solidFill>
            <a:srgbClr val="C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2080" y="3063240"/>
            <a:ext cx="17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C8E0"/>
                </a:solidFill>
                <a:latin typeface="Calibri"/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910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C8E0"/>
                </a:solidFill>
                <a:latin typeface="Calibri"/>
              </a:rPr>
              <a:t>SELECT * WHERE email=$1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393440"/>
            <a:ext cx="3474720" cy="190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56800" y="3291840"/>
            <a:ext cx="17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139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  <a:latin typeface="Calibri"/>
              </a:rPr>
              <a:t>email non trouvé → null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3622040"/>
            <a:ext cx="3108960" cy="190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2820" y="3520440"/>
            <a:ext cx="17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55F7"/>
                </a:solidFill>
                <a:latin typeface="Calibri"/>
              </a:rPr>
              <a:t>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368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55F7"/>
                </a:solidFill>
                <a:latin typeface="Calibri"/>
              </a:rPr>
              <a:t>bcrypt.hash(password, 10)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896360"/>
            <a:ext cx="3474720" cy="19050"/>
          </a:xfrm>
          <a:prstGeom prst="rect">
            <a:avLst/>
          </a:prstGeom>
          <a:solidFill>
            <a:srgbClr val="C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56800" y="3794760"/>
            <a:ext cx="17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C8E0"/>
                </a:solidFill>
                <a:latin typeface="Calibri"/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3642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C8E0"/>
                </a:solidFill>
                <a:latin typeface="Calibri"/>
              </a:rPr>
              <a:t>INSERT INTO users → {id, email, name}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4170680"/>
            <a:ext cx="3474720" cy="190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1780" y="4069080"/>
            <a:ext cx="17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3916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  <a:latin typeface="Calibri"/>
              </a:rPr>
              <a:t>user.id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4445000"/>
            <a:ext cx="310896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12820" y="4343400"/>
            <a:ext cx="17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  <a:latin typeface="Calibri"/>
              </a:rPr>
              <a:t>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4191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366F1"/>
                </a:solidFill>
                <a:latin typeface="Calibri"/>
              </a:rPr>
              <a:t>jwt.sign({userId, email}, SECRET, 7d)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4810760"/>
            <a:ext cx="2560320" cy="190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2500" y="4709160"/>
            <a:ext cx="17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556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  <a:latin typeface="Calibri"/>
              </a:rPr>
              <a:t>201 · { token, user }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303520"/>
            <a:ext cx="11247120" cy="50292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5349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Token JWT stocké en localStorage · Envoyé en Authorization: Bearer &lt;token&gt; à chaque requête protégée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7315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Calibri"/>
              </a:rPr>
              <a:t>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DÉMONSTRATION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0C8E0"/>
                </a:solidFill>
                <a:latin typeface="Calibri"/>
              </a:rPr>
              <a:t>Application My Smart Budget — 8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40480"/>
            <a:ext cx="2194560" cy="256032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840480"/>
            <a:ext cx="219456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85876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520" y="44074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Login / Inscription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520" y="48463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Interface sécurisée · validation JWT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3840480"/>
            <a:ext cx="2194560" cy="256032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3840480"/>
            <a:ext cx="219456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385876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6240" y="44074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Questionnaire 7 étapes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6240" y="48463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Animations · profil · conseils personnalisés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6360" y="3840480"/>
            <a:ext cx="2194560" cy="256032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66360" y="3840480"/>
            <a:ext cx="219456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85876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7960" y="44074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Dashboard &amp; statistiques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7960" y="48463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Recharts · API /stats · données temps réel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0" y="3840480"/>
            <a:ext cx="2194560" cy="256032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0" y="3840480"/>
            <a:ext cx="219456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385876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9680" y="44074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Transactions — CRUD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9680" y="48463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Ajout · modification · suppression · IDOR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29800" y="3840480"/>
            <a:ext cx="2194560" cy="256032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29800" y="3840480"/>
            <a:ext cx="219456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385876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1400" y="44074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Profil &amp; objectifs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1400" y="48463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GoalsSection · persistance PostgreSQL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06 —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Code Frontend — Next.js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C8E0"/>
                </a:solidFill>
                <a:latin typeface="Calibri"/>
              </a:rPr>
              <a:t>Points techniques clés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2286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5486400" cy="365760"/>
          </a:xfrm>
          <a:prstGeom prst="rect">
            <a:avLst/>
          </a:prstGeom>
          <a:solidFill>
            <a:srgbClr val="16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019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questionnaire.tsx — Validation par étape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const canNext = () =&gt;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78100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8E0"/>
                </a:solidFill>
                <a:latin typeface="Calibri"/>
              </a:rPr>
              <a:t>  if (step === 1) return !!answers.profileType;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70200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8E0"/>
                </a:solidFill>
                <a:latin typeface="Calibri"/>
              </a:rPr>
              <a:t>  if (step === 4) return answers.dettes.length &gt; 0;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62300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8E0"/>
                </a:solidFill>
                <a:latin typeface="Calibri"/>
              </a:rPr>
              <a:t>  if (step === 5) return answers.objectifsEpargne.length &gt; 0;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54400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D399"/>
                </a:solidFill>
                <a:latin typeface="Calibri"/>
              </a:rPr>
              <a:t>  return true;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6500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};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51960"/>
            <a:ext cx="5486400" cy="2286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51960"/>
            <a:ext cx="5486400" cy="365760"/>
          </a:xfrm>
          <a:prstGeom prst="rect">
            <a:avLst/>
          </a:prstGeom>
          <a:solidFill>
            <a:srgbClr val="16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7939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dashboard/page.tsx — Protection de route (client)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useEffect(() =&gt;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55540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8E0"/>
                </a:solidFill>
                <a:latin typeface="Calibri"/>
              </a:rPr>
              <a:t>  const token = localStorage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47640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8E0"/>
                </a:solidFill>
                <a:latin typeface="Calibri"/>
              </a:rPr>
              <a:t>        .getItem('token');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39740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if (!token)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31840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7171"/>
                </a:solidFill>
                <a:latin typeface="Calibri"/>
              </a:rPr>
              <a:t>    router.push('/login');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123940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16040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}, []);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1874519"/>
            <a:ext cx="5577840" cy="466344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385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Points clés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423160"/>
            <a:ext cx="7620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App Router Next.js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Routing basé fichiers · page.tsx · layout.tsx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2999232"/>
            <a:ext cx="7620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9992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7 étapes animées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9992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État local React · transition CSS conditionnelle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575304"/>
            <a:ext cx="7620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5753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Conseils dynamiques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357530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generateAdvice() selon les réponses du profil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4151376"/>
            <a:ext cx="7620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1513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Recharts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15137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Graphiques interactifs sur les données de l'API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4727448"/>
            <a:ext cx="7620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4727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TypeScript strict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47274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Typage des props, états et réponses API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5303520"/>
            <a:ext cx="7620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Responsive Tailwind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5303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Mobile first · classes conditionnelles · grid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5879592"/>
            <a:ext cx="7620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5879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Profils différenciés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58795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6 pages profil : étudiant, salarié, famille…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07 —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Code Backend — API REST Express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C8E0"/>
                </a:solidFill>
                <a:latin typeface="Calibri"/>
              </a:rPr>
              <a:t>Node.js · pg-promise · Mongoose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029200" cy="466344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502920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  Méthode   Route                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31720"/>
            <a:ext cx="5029200" cy="393192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82520"/>
            <a:ext cx="7772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38252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/api/auth/register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382520"/>
            <a:ext cx="1554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24912"/>
            <a:ext cx="5029200" cy="393192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75712"/>
            <a:ext cx="7772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775712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/api/auth/login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775712"/>
            <a:ext cx="1554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Connexion JWT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118104"/>
            <a:ext cx="5029200" cy="393192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68904"/>
            <a:ext cx="7772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68904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/api/auth/verify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168904"/>
            <a:ext cx="1554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Vérif. token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511296"/>
            <a:ext cx="5029200" cy="393192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562096"/>
            <a:ext cx="7772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562096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/api/transactions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562096"/>
            <a:ext cx="1554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Liste transactions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904488"/>
            <a:ext cx="5029200" cy="393192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955288"/>
            <a:ext cx="7772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955288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/api/transactions/add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955288"/>
            <a:ext cx="1554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Créer transaction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297680"/>
            <a:ext cx="5029200" cy="393192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348480"/>
            <a:ext cx="7772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34848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/api/transactions/stats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348480"/>
            <a:ext cx="1554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Stats mensuelles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690872"/>
            <a:ext cx="5029200" cy="393192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741672"/>
            <a:ext cx="7772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741672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/api/transactions/:id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741672"/>
            <a:ext cx="1554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Modifier (ownerGuard)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084064"/>
            <a:ext cx="5029200" cy="393192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134864"/>
            <a:ext cx="7772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Calibri"/>
              </a:rPr>
              <a:t>DELETE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134864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/api/transactions/:id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134864"/>
            <a:ext cx="1554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Supprimer (ownerGuard)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477256"/>
            <a:ext cx="5029200" cy="393192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528056"/>
            <a:ext cx="7772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POST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5528056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/api/profile/save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5528056"/>
            <a:ext cx="1554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Upsert profil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870448"/>
            <a:ext cx="5029200" cy="393192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921248"/>
            <a:ext cx="7772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5921248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/api/profile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5921248"/>
            <a:ext cx="1554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Récupérer profil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263640"/>
            <a:ext cx="5029200" cy="393192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6314440"/>
            <a:ext cx="7772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631444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/api/reports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6314440"/>
            <a:ext cx="1554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Rapports MongoDB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0" y="1874519"/>
            <a:ext cx="5989320" cy="21488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760720" y="1874519"/>
            <a:ext cx="5989320" cy="365760"/>
          </a:xfrm>
          <a:prstGeom prst="rect">
            <a:avLst/>
          </a:prstGeom>
          <a:solidFill>
            <a:srgbClr val="16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97880" y="190195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Agrégation SQL — Route /stats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97880" y="2286000"/>
            <a:ext cx="5669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66F1"/>
                </a:solidFill>
                <a:latin typeface="Calibri"/>
              </a:rPr>
              <a:t>SELECT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97880" y="2540000"/>
            <a:ext cx="5669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  SUM(CASE WHEN amount &gt; 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97880" y="2794000"/>
            <a:ext cx="5669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    THEN amount ELSE 0 END) AS total_revenus,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97880" y="3048000"/>
            <a:ext cx="5669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  SUM(CASE WHEN amount &lt; 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97880" y="3302000"/>
            <a:ext cx="5669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    THEN ABS(amount) ELSE 0 END) AS total_depenses,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97880" y="3556000"/>
            <a:ext cx="5669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alibri"/>
              </a:rPr>
              <a:t>  COUNT(*) AS total_transactions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97880" y="3810000"/>
            <a:ext cx="5669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FROM transactions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97880" y="4064000"/>
            <a:ext cx="5669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  <a:latin typeface="Calibri"/>
              </a:rPr>
              <a:t>WHERE user_id=$1 AND date &gt;= NOW()-'1 month'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60720" y="4114800"/>
            <a:ext cx="5989320" cy="219456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60720" y="4114800"/>
            <a:ext cx="5989320" cy="365760"/>
          </a:xfrm>
          <a:prstGeom prst="rect">
            <a:avLst/>
          </a:prstGeom>
          <a:solidFill>
            <a:srgbClr val="16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97880" y="414223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  <a:latin typeface="Calibri"/>
              </a:rPr>
              <a:t>Upsert PostgreSQL — Route /profile/save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97880" y="4526280"/>
            <a:ext cx="56692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66F1"/>
                </a:solidFill>
                <a:latin typeface="Calibri"/>
              </a:rPr>
              <a:t>INSERT INTO user_profiles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97880" y="4792980"/>
            <a:ext cx="56692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  (user_id, profile_type, ...)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97880" y="5059680"/>
            <a:ext cx="56692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VALUES ($1, $2, ...)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97880" y="5326380"/>
            <a:ext cx="56692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  <a:latin typeface="Calibri"/>
              </a:rPr>
              <a:t>ON CONFLICT (user_id) DO UPDATE SET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97880" y="5593080"/>
            <a:ext cx="56692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alibri"/>
              </a:rPr>
              <a:t>  profile_type = $2,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97880" y="5859780"/>
            <a:ext cx="56692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alibri"/>
              </a:rPr>
              <a:t>  revenus_mensuels = $3 ...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97880" y="6126480"/>
            <a:ext cx="56692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RETURNING 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08 —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Sécurité Applicative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C8E0"/>
                </a:solidFill>
                <a:latin typeface="Calibri"/>
              </a:rPr>
              <a:t>OWASP — Bonnes pratiques implementées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3749039" cy="2176272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3749039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4520" y="192531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JWT + bcrypt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520" y="2377439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Authentification stateless · Tokens 7j
bcrypt salt=10 · Mot de passe validé (regex 8+ car, maj, min, chiffre)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3749039" cy="2176272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74519"/>
            <a:ext cx="3749039" cy="411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0720" y="192531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Helmet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720" y="2377439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En-têtes HTTP sécurisés automatiques
Content-Security-Policy · X-Frame-Options · X-Content-Type-Options
X-Powered-By désactivé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874519"/>
            <a:ext cx="3749039" cy="2176272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874519"/>
            <a:ext cx="3749039" cy="4114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6920" y="192531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Rate Limiting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6920" y="2377439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20 requêtes max / 15 min sur /api/auth
Protection brute force sur login et register
Rejet avec message explicite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06239"/>
            <a:ext cx="3749039" cy="2176272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206239"/>
            <a:ext cx="3749039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4520" y="425703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Protection IDOR (ownerGuard)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4520" y="4709159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Vérifie que la transaction appartient
à l'utilisateur extrait du JWT
Aucune attaque par manipulation d'id possible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206239"/>
            <a:ext cx="3749039" cy="2176272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206239"/>
            <a:ext cx="3749039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0720" y="425703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userId issu du JWT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0720" y="4709159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Jamais accepté depuis le body de la requête
Extrait exclusivement du token décodé
Un user ne peut accéder qu'à ses propres données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4206239"/>
            <a:ext cx="3749039" cy="2176272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20" y="4206239"/>
            <a:ext cx="3749039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76920" y="425703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CORS + Payload limité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6920" y="4709159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Origines autorisées explicitement configurées
Body JSON limité à 10kb
Méthodes HTTP restreintes : GET POST PUT DELETE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46520"/>
            <a:ext cx="11247120" cy="347472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ownerGuard.js : SELECT id FROM transactions WHERE id=$1 AND user_id=$2  →  protection IDOR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09 —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Tests &amp; Qualité Logicielle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C8E0"/>
                </a:solidFill>
                <a:latin typeface="Calibri"/>
              </a:rPr>
              <a:t>Jest · Supertest · SonarCloud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212080" cy="470916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Pyramide des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423160"/>
            <a:ext cx="1463040" cy="777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3246120"/>
            <a:ext cx="2377440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5960" y="3931920"/>
            <a:ext cx="315468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4688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E2E
(prévu)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2918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INTÉGRATION
Jest + Supertest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977639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UNITAIRES — auth.middleware.test.js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874519"/>
            <a:ext cx="5806440" cy="470916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3852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Tests auth.routes.test.js — 10 / 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423160"/>
            <a:ext cx="502920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448560"/>
            <a:ext cx="5029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Calibri"/>
              </a:rPr>
              <a:t>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448560"/>
            <a:ext cx="484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Register — champs manquants → 400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807208"/>
            <a:ext cx="502920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832608"/>
            <a:ext cx="5029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Calibri"/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832608"/>
            <a:ext cx="484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Register — mot de passe faible → 400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191256"/>
            <a:ext cx="502920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216656"/>
            <a:ext cx="5029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Calibri"/>
              </a:rPr>
              <a:t>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216656"/>
            <a:ext cx="484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Register — email déjà utilisé → 400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575304"/>
            <a:ext cx="502920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600704"/>
            <a:ext cx="5029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Calibri"/>
              </a:rPr>
              <a:t>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600704"/>
            <a:ext cx="484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Register — succès → 201 + token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959352"/>
            <a:ext cx="502920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984752"/>
            <a:ext cx="5029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Calibri"/>
              </a:rPr>
              <a:t>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984752"/>
            <a:ext cx="484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Login — champs manquants → 400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343400"/>
            <a:ext cx="502920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368800"/>
            <a:ext cx="5029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Calibri"/>
              </a:rP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368800"/>
            <a:ext cx="484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Login — email inexistant → 401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727448"/>
            <a:ext cx="502920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752848"/>
            <a:ext cx="5029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Calibri"/>
              </a:rP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752848"/>
            <a:ext cx="484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Login — mauvais mot de passe → 401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5111496"/>
            <a:ext cx="502920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5136896"/>
            <a:ext cx="5029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Calibri"/>
              </a:rP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5136896"/>
            <a:ext cx="484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Login — succès → 200 + token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5495544"/>
            <a:ext cx="502920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5520944"/>
            <a:ext cx="5029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Calibri"/>
              </a:rP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5520944"/>
            <a:ext cx="484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Verify — token manquant → 401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5879592"/>
            <a:ext cx="502920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904992"/>
            <a:ext cx="5029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Calibri"/>
              </a:rPr>
              <a:t>PASS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5904992"/>
            <a:ext cx="484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Verify — token valide → valid:true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6263640"/>
            <a:ext cx="5806440" cy="32004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6291072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66F1"/>
                </a:solidFill>
                <a:latin typeface="Calibri"/>
              </a:rPr>
              <a:t>  SonarCloud · coverage lcov · sonar-project.properties · exclusion node_modules &amp; .next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10 —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Déploiement &amp; DevOps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C8E0"/>
                </a:solidFill>
                <a:latin typeface="Calibri"/>
              </a:rPr>
              <a:t>Docker Compose · 4 services · Docker Hub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2788920" cy="320040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278892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25319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520" y="2441447"/>
            <a:ext cx="2636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Next.js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520" y="2834639"/>
            <a:ext cx="2636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Port : :3000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520" y="3200399"/>
            <a:ext cx="2636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Image :
abedel/my-smart-budget-frontend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874519"/>
            <a:ext cx="2788920" cy="320040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874519"/>
            <a:ext cx="278892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925319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0600" y="2441447"/>
            <a:ext cx="2636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Node.js Express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0600" y="2834639"/>
            <a:ext cx="2636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Port : :5001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0600" y="3200399"/>
            <a:ext cx="2636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Image :
abedel/my-smart-budget-backend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874519"/>
            <a:ext cx="2788920" cy="320040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874519"/>
            <a:ext cx="278892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925319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postgres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6680" y="2441447"/>
            <a:ext cx="2636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PostgreSQL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6680" y="2834639"/>
            <a:ext cx="2636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Port : :5432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6680" y="3200399"/>
            <a:ext cx="2636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Image :
postgres:16-alpine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56680" y="4251959"/>
            <a:ext cx="2585720" cy="36576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6680" y="4270247"/>
            <a:ext cx="2585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  <a:latin typeface="Calibri"/>
              </a:rPr>
              <a:t>Healthcheck actif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60" y="1874519"/>
            <a:ext cx="2788920" cy="320040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81160" y="1874519"/>
            <a:ext cx="278892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1925319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mongodb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2760" y="2441447"/>
            <a:ext cx="2636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MongoDB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2760" y="2834639"/>
            <a:ext cx="2636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E0"/>
                </a:solidFill>
                <a:latin typeface="Calibri"/>
              </a:rPr>
              <a:t>Port : :27017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2760" y="3200399"/>
            <a:ext cx="2636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E0"/>
                </a:solidFill>
                <a:latin typeface="Calibri"/>
              </a:rPr>
              <a:t>Image :
mongo:7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82760" y="4251959"/>
            <a:ext cx="2585720" cy="36576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2760" y="4270247"/>
            <a:ext cx="2585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  <a:latin typeface="Calibri"/>
              </a:rPr>
              <a:t>Healthcheck actif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257800"/>
            <a:ext cx="11247120" cy="54864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321808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🌐  Réseau interne Docker :  smart-budget-network (bridge) · restart: always · depends_on: service_healthy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  Production : https://smarterbudget.net  —  NEXT_PUBLIC_API_URL injectée via variable d'environnement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Bilan &amp;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C8E0"/>
                </a:solidFill>
                <a:latin typeface="Calibri"/>
              </a:rPr>
              <a:t>Compétences CDA couvertes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3749039" cy="292608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3749039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4520" y="190195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CCP1 — Développer une application sécurisée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4520" y="2441448"/>
            <a:ext cx="88900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2320" y="24231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Interface utilisateur Next.js complète et responsive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4520" y="3172968"/>
            <a:ext cx="88900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2320" y="31546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Composants backend Express avec API REST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520" y="3904488"/>
            <a:ext cx="88900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320" y="3886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Gestion de projet Agile avec Git et SonarCloud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874519"/>
            <a:ext cx="3749039" cy="292608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874519"/>
            <a:ext cx="3749039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0720" y="190195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CCP2 — Concevoir et développer en couches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0720" y="2441448"/>
            <a:ext cx="8890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8520" y="24231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Architecture 3-tiers strictement respectée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90720" y="3172968"/>
            <a:ext cx="8890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8520" y="31546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BDD relationnelle PostgreSQL + NoSQL MongoDB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90720" y="3904488"/>
            <a:ext cx="8890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8520" y="3886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Modélisation MCD/MLD · Use Cases · Séquences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1874519"/>
            <a:ext cx="3749039" cy="292608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1874519"/>
            <a:ext cx="3749039" cy="4754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6920" y="190195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CCP3 — Préparer le déploiement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76920" y="2441448"/>
            <a:ext cx="88900" cy="4754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54720" y="24231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Tests automatisés Jest + Supertest (10 tests, 100%)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76920" y="3172968"/>
            <a:ext cx="88900" cy="4754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54720" y="31546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Déploiement Docker Compose · Docker Hub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76920" y="3904488"/>
            <a:ext cx="88900" cy="4754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54720" y="3886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Qualité continue SonarCloud · couverture lcov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983480"/>
            <a:ext cx="11247120" cy="164592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0292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Calibri"/>
              </a:rPr>
              <a:t>Points forts &amp; apprentissages clés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486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▸  Polyglot persistence (PostgreSQL + MongoDB) selon les besoins métier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989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▸  Protection IDOR avec ownerGuard — sécurité souvent négligée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5486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▸  userId extrait du JWT, jamais du body — principe de non-répudiation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5989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E0"/>
                </a:solidFill>
                <a:latin typeface="Calibri"/>
              </a:rPr>
              <a:t>▸  Fail-fast au démarrage si variables d'environnement manquantes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5486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6366F1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0C8E0"/>
                </a:solidFill>
                <a:latin typeface="Calibri"/>
              </a:rPr>
              <a:t>Je suis disponible pour répondre à toutes vos 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657600"/>
            <a:ext cx="3017520" cy="59436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7465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Architecture 3-tiers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657600"/>
            <a:ext cx="3017520" cy="59436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7465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Protection IDOR / Sécurité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657600"/>
            <a:ext cx="3017520" cy="59436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7465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Choix PostgreSQL + MongoDB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434840"/>
            <a:ext cx="3017520" cy="59436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5237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Déploiement Docker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4434840"/>
            <a:ext cx="3017520" cy="59436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5237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Tests Jest / Supertest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4434840"/>
            <a:ext cx="3017520" cy="594360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5237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Questionnaire &amp; profils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C8E0"/>
                </a:solidFill>
                <a:latin typeface="Calibri"/>
              </a:rPr>
              <a:t>My Smart Budget — Concepteur Développeur d'Applications | Colint School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6366F1"/>
                </a:solidFill>
              </a:rPr>
              <a:t>04 —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Modèle de données : PostgreSQL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4 tables relationnelles — clés étrangères sur user_id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6366F1"/>
                </a:solidFill>
              </a:rPr>
              <a:t>Structure des 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users — id, email, password_hash, profile_type, created_at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transactions — id, user_id (FK), name, amount, category, date, is_recurring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budgets — id, user_id (FK), category, limit_amount,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savings_goals — id, user_id (FK), name, target_amount, current_amount, deadline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Contraintes FK : suppression cascade sur user_id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Index sur user_id dans chaque table (performances requêtes)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Montants négatifs = dépenses, positifs = revenus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A855F7"/>
                </a:solidFill>
              </a:rPr>
              <a:t>04 —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Modèle de données : MongoDB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Snapshots analytiques — document auto-contenu par rapport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A855F7"/>
                </a:solidFill>
              </a:rPr>
              <a:t>Document rapport (Mongoose Schema)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userId: String  — référence utilisateur PostgreSQL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month: String   — ex: "2025-03"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totaux: { revenus, depenses, solde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parCategorie: [{ category, total }]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evolution: [{ month, revenus, depenses }]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createdAt: Date — timestamp archivage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Schéma flexible : champs optionnels selon version de l'app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34D399"/>
                </a:solidFill>
              </a:rPr>
              <a:t>04 —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Polyglot Persistence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Chaque base fait ce qu'elle fait le mieux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6366F1"/>
                </a:solidFill>
              </a:rPr>
              <a:t>PostgreSQL — données transactionnelles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ACID — atomicité garantie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Relations strictes (FK)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Calculs agrégés 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Données temps réel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4 tables liées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A855F7"/>
                </a:solidFill>
              </a:rPr>
              <a:t>MongoDB — données analytiques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Schéma flexible / évolutif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Documents auto-contenus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Archivage snapshots historiques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Lecture rapide (pas de JOIN)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85876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API Mongoose simple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6366F1"/>
                </a:solidFill>
              </a:rPr>
              <a:t>04 —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API REST — Organisation par domaine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Chaque domaine métier isolé dans son propre fichier de routes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6366F1"/>
                </a:solidFill>
              </a:rPr>
              <a:t>Endpoints REST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POST /api/auth/register  — Inscription (public)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POST /api/auth/login     — Connexion, retourne JWT (public)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GET/POST/PUT/DELETE /api/transactions  — JWT requis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GET/POST/PUT/DELETE /api/budgets       — JWT requis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GET/POST/PUT/DELETE /api/goals         — JWT requis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GET /api/reports/generate — Calcul PostgreSQL, JWT requis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POST/DELETE /api/reports  — Archivage MongoDB, JWT requis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6366F1"/>
                </a:solidFill>
              </a:rPr>
              <a:t>04 —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Authentification — Middleware JWT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Vérification stateless à chaque requête protégée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6366F1"/>
                </a:solidFill>
              </a:rPr>
              <a:t>Flux d'authentification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1. Client envoie: Authorization: Bearer &lt;token&gt;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2. Middleware extrait et vérifie la signature JWT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3. Si invalide → 401 Unauthorized immédiat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4. Si valide → req.user = { id, email } injecté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5. Route accède à req.user.id sans paramètre URL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Stateless : aucun appel base de données pour vérifier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Clé secrète stockée en variable d'environnement (JWT_SECRET)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87171"/>
                </a:solidFill>
              </a:rPr>
              <a:t>04 —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Sécurité — Protection IDOR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Insecure Direct Object Reference — OWASP A01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87171"/>
                </a:solidFill>
              </a:rPr>
              <a:t>Sans protection IDOR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GET /api/budgets/42 retourne budget de l'user 42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N'importe quel user connecté peut accéder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Suffit de changer l'ID dans l'URL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Faille critique sur toutes les ressources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34D399"/>
                </a:solidFill>
              </a:rPr>
              <a:t>Avec ownerGuard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On charge la ressource depuis la 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On compare resource.user_id === req.user.id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Si différent → 403 Forbidden immédiat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Appliqué sur TOUS les PUT et DELETE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34D399"/>
                </a:solidFill>
              </a:rPr>
              <a:t>04 —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Budget — Calcul temps réel (SQL)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LEFT JOIN pour calculer les dépenses du mois courant en une requête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34D399"/>
                </a:solidFill>
              </a:rPr>
              <a:t>Requête SQL optimisée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SELECT b.*, COALESCE(SUM(CASE WHEN ...), 0) AS current_spending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FROM budgets b LEFT JOIN transactions 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  ON t.category = b.category AND t.user_id = b.user_id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WHERE b.user_id = $1  GROUP BY b.id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── amount &lt; 0 filtre uniquement les dépenses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── date_trunc('month', ...) limite au mois courant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── COALESCE gère le cas zéro transaction (NULL → 0)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6366F1"/>
                </a:solidFill>
              </a:rPr>
              <a:t>04 —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Bilan — Ce que la conception a changé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Des décisions documentées, pas des choix au hasard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87171"/>
                </a:solidFill>
              </a:rPr>
              <a:t>Avant conception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"Une base de données"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Routes en vrac dans index.js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Auth vérifiée dans chaque route manuellement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Pas de protection accès inter-utilisateurs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Calculs faits en JavaScript après 2 requêtes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34D399"/>
                </a:solidFill>
              </a:rPr>
              <a:t>Après conception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PostgreSQL + MongoDB (polyglot)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Domaines métier séparés (5 fichiers routes)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Middleware JWT centralisé réutilisable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ownerGuard sur tous les PUT/DELETE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85876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JOIN SQL : 1 requête, 0 traitement JS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34D399"/>
                </a:solidFill>
              </a:rPr>
              <a:t>05 — DÉMO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Démonstration — Parcours Utilisateur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Application en conditions réelles — Docker local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34D399"/>
                </a:solidFill>
              </a:rPr>
              <a:t>Étapes de la démo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1. Inscription + Questionnaire profil (Salarié)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2. Dashboard personnalisé — KPIs temps réel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3. Ajout de transactions (revenus + dépenses)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4. Gestion des budgets + alertes dépassement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5. Objectifs d'épargne — barre de progression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6. Rapports analytiques + archivage MongoDB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7. Export CSV côté client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34D399"/>
                </a:solidFill>
              </a:rPr>
              <a:t>05 — DÉMO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Onboarding — Questionnaire Adaptatif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3 profils — questions différentes selon le choix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34D399"/>
                </a:solidFill>
              </a:rPr>
              <a:t>Profils disponibles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🎓 Étudiant — bourses, aide familiale, jobs étudiants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💼 Salarié — salaire net, primes, charges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🏢 Entrepreneur — CA, charges professionnelles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6366F1"/>
                </a:solidFill>
              </a:rPr>
              <a:t>Ce que le questionnaire configure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Catégories par défaut dans le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KPIs adaptés au profil sélectionné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Suggestions de budgets selon les revenus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Labels personnalisés (ex: 'Bourse' vs 'Salaire')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34D399"/>
                </a:solidFill>
              </a:rPr>
              <a:t>05 — DÉMO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Dashboard — Vue Temps Réel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KPIs calculés depuis les transactions du mois courant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34D399"/>
                </a:solidFill>
              </a:rPr>
              <a:t>Composants du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Solde = Revenus − Dépenses (calcul côté client)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Liste des dernières transactions (5 plus récentes)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Graphique répartition dépenses par catégorie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Badge rouge dans navbar si budget dépassé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Bouton d'accès rapide à chaque section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Nom de l'utilisateur affiché (depuis le token JWT)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3 variantes : Étudiant / Salarié / Entrepreneur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D700"/>
                </a:solidFill>
              </a:rPr>
              <a:t>05 — DÉMO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Budgets — Alertes Dynamiques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Calcul temps réel : LEFT JOIN PostgreSQL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FD700"/>
                </a:solidFill>
              </a:rPr>
              <a:t>Indicateurs visuels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Barre de progression par catégorie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Vert : dépenses &lt; 80% du 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Orange : dépenses entre 80% et 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Rouge : budget dépassé (&gt; 100%)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Bannière d'alerte en haut de page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6366F1"/>
                </a:solidFill>
              </a:rPr>
              <a:t>CRUD Budgets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Créer un budget par catégorie + montant limite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Modifier le montant limite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Supprimer un budget (confirmation)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409 si catégorie déjà utilisée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85876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Badge navbar mis à jour automatiquement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A855F7"/>
                </a:solidFill>
              </a:rPr>
              <a:t>05 — DÉMO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Rapports — Analytics + Archivage MongoDB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Calcul PostgreSQL → affichage → archivage optionnel MongoDB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A855F7"/>
                </a:solidFill>
              </a:rPr>
              <a:t>Fonctionnalités de la page Rapports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Sélecteur de mois — données filtrées dynamiquement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4 KPIs : Revenus totaux / Dépenses / Solde / Économies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Graphique barres : dépenses par catégorie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Courbe évolution : 6 mois glissants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Bouton "Archiver dans MongoDB" — snapshot permanent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Liste des rapports archivés avec 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Export CSV : fichier généré côté client (0 serveur)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6366F1"/>
                </a:solidFill>
              </a:rPr>
              <a:t>06 —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Frontend — Next.js 15 + React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App Router, TypeScript strict, Tailwind CSS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6366F1"/>
                </a:solidFill>
              </a:rPr>
              <a:t>Arborescence du projet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src/app/         — Pages (App Router)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components/      — Composants réutilisables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src/types/       — Interfaces TypeScript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src/lib/         — storage.ts, hooks custom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public/          — Assets statiques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A855F7"/>
                </a:solidFill>
              </a:rPr>
              <a:t>Pages de l'application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/login  /register  /questionnaire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/dashboard  (3 variantes profil)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/transaction  — CRUD transactions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/budgets  — CRUD budgets + alertes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85876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/goals  — CRUD objectifs épargne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20928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41483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/reports  — Analytics + archivage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6366F1"/>
                </a:solidFill>
              </a:rPr>
              <a:t>06 —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App Router — Navigation &amp; Guards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Chaque page vérifie le JWT au montage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6366F1"/>
                </a:solidFill>
              </a:rPr>
              <a:t>Protection des routes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useEffect au montage : lecture sessionStorage || localStorage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Si token absent → router.push('/login') immédiat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Si token présent → fetch des données avec Authorization header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Navbar affichée uniquement pour les pages protégées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Redirection post-login vers la page demandée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Logout : clear sessionStorage ET localStorage + redirect /login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Badge budgets : recalculé à chaque changement de pathname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A855F7"/>
                </a:solidFill>
              </a:rPr>
              <a:t>06 —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useProfileDashboard — Hook Partagé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1 hook custom → 3 dashboards — zéro duplication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87171"/>
                </a:solidFill>
              </a:rPr>
              <a:t>Problème sans hook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3 dashboards, même logique de fetch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150 lignes dupliquées × 3 = 450 lignes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Un bug corrigé dans 1 = à corriger dans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Incohérences entre profils inévitables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34D399"/>
                </a:solidFill>
              </a:rPr>
              <a:t>Solution : hook custom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useProfileDashboard() → { transactions, loading, kpis 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Fetch /api/transactions avec JWT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Calcul KPIs (revenus, dépenses, solde)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Chaque dashboard = rendu uniquement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85876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Bug corrigé en 1 seul endroit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87171"/>
                </a:solidFill>
              </a:rPr>
              <a:t>06 —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Sécurité Frontend — Gestion des Sessions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sessionStorage par défaut — localStorage en fallback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34D399"/>
                </a:solidFill>
              </a:rPr>
              <a:t>sessionStorage (défaut)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Effacé à la fermeture du navigateur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Accessible uniquement onglet courant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JWT stocké ici par saveSession()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Protège contre vol de session cross-tab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XSS limité : scripts injectés lisent localStorage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6366F1"/>
                </a:solidFill>
              </a:rPr>
              <a:t>Règles appliquées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Lecture : sessionStorage || localStorage (fallback)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Écriture (login) : sessionStorage uniquement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Logout : clear() sur les DEUX storages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Token envoyé en header Authorization: Bearer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85876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Jamais de token dans les paramètres URL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A855F7"/>
                </a:solidFill>
              </a:rPr>
              <a:t>06 —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TypeScript — Contrats entre Couches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Les interfaces documentent et protègent les échanges frontend/backend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A855F7"/>
                </a:solidFill>
              </a:rPr>
              <a:t>Interfaces métier principales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Transaction : { id, name, amount, category, date, is_recurring?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Budget : { id, category, limit_amount, current_spending 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SavingsGoal : { id, name, target_amount, current_amount, deadline?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Report : { userId, month, totaux, parCategorie, evolution 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Props typées sur chaque composant React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TypeScript strict : aucun 'any' implicite toléré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Erreur de compilation si backend change un nom de champ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34D399"/>
                </a:solidFill>
              </a:rPr>
              <a:t>06 —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Export CSV — Zéro Dépendance Serveur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Blob + URL.createObjectURL — génération entièrement côté 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34D399"/>
                </a:solidFill>
              </a:rPr>
              <a:t>Implémentation export 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Header CSV : 'Date,Description,Catégorie,Montant'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Chaque transaction → ligne CSV formatée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new Blob([csv], { type: 'text/csv' })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URL.createObjectURL(blob) → URL temporaire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Clic programmatique sur &lt;a download='transactions.csv'&gt;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URL.revokeObjectURL() → nettoyage mémoire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Aucun round-trip serveur, aucune dépendance externe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6366F1"/>
                </a:solidFill>
              </a:rPr>
              <a:t>07 —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Backend — Architecture Express Modulaire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Separation of Concerns — 1 fichier par domaine métier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6366F1"/>
                </a:solidFill>
              </a:rPr>
              <a:t>Arborescence 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index.js         — Entry point + middlewares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routes/auth.js   — /api/auth/*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routes/transactions.js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routes/budgets.js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routes/goals.js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routes/reports.js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middleware/auth.js — JWT verify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9103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8493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models/report.js  — Mongoose schema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2608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1998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db.js            — pg-promise pool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34D399"/>
                </a:solidFill>
              </a:rPr>
              <a:t>Principe d'extension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Ajouter un domaine = 1 fichier routes/X.js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Importer en 1 ligne dans index.js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Middleware JWT déjà appliqué automatiquement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Tests isolés par fichier de routes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385876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Aucun couplage entre domaines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6366F1"/>
                </a:solidFill>
              </a:rPr>
              <a:t>07 —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Connexions Base de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pg-promise (PostgreSQL) + Mongoose (MongoDB) — via env vars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6366F1"/>
                </a:solidFill>
              </a:rPr>
              <a:t>Configuration des connexions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DATABASE_URL → pg-promise pool (connexions réutilisées)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MONGODB_URI  → mongoose.connect() avec reconnexion auto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Aucun credential en dur dans le code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.env dans .gitignore — jamais committé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docker-compose.yml injecte les variables au démarrage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Pool PostgreSQL : max 10 connexions simultanées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Mongoose : retry automatique si MongoDB redémarre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34D399"/>
                </a:solidFill>
              </a:rPr>
              <a:t>07 —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Route Complexe — GET /api/budgets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Un seul SQL avec LEFT JOIN remplace 2 requêtes + fusion JS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34D399"/>
                </a:solidFill>
              </a:rPr>
              <a:t>Approche et bénéfices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SELECT b.*, COALESCE(SUM(CASE WHEN ...), 0) AS current_spending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LEFT JOIN transactions ON category + user_id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CASE WHEN amount &lt; 0 AND date_trunc('month') = NOW()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GROUP BY b.id — 1 ligne par budget avec total dépenses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Avantage : 1 round-trip DB au lieu de 1+N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COALESCE : budget sans transaction → 0 (pas NULL)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Résultat prêt à l'emploi pour le frontend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A855F7"/>
                </a:solidFill>
              </a:rPr>
              <a:t>07 —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Génération de Rapports — 3 Requêtes 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Promise.all — exécution parallèle des 3 agrégations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A855F7"/>
                </a:solidFill>
              </a:rPr>
              <a:t>3 dimensions analytiques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1. Totaux : SUM revenus / SUM dépenses du mois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2. Par catégorie : GROUP BY category, SUM(ABS(amount))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3. Évolution 6 mois : GROUP BY date_trunc('month')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Promise.all([q1, q2, q3]) — parallèle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6366F1"/>
                </a:solidFill>
              </a:rPr>
              <a:t>Flux complet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GET /api/reports/generate → 3 SQL en parallèle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Assemblage JSON : { totaux, parCategorie, evolution 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Frontend reçoit et affiche les graphiques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Bouton "Archiver" → POST /api/reports (MongoDB)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85876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GET /api/reports → liste snapshots archivés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D700"/>
                </a:solidFill>
              </a:rPr>
              <a:t>07 —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Configuration — 12-Factor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La config dans l'environnement, jamais dans le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FD700"/>
                </a:solidFill>
              </a:rPr>
              <a:t>Variables d'environnement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DATABASE_URL  — postgresql://user:pass@postgres:5432/mydb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MONGODB_URI   — mongodb://mongo:27017/mybudget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JWT_SECRET    — chaîne aléatoire longue (256 bits)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PORT          — 5001 (backend Express)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FRONTEND_URL  — http://localhost:3000 (CORS whitelist)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.env.example fourni dans le repo (sans valeurs réelles)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En production Docker : variables dans docker-compose.yml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87171"/>
                </a:solidFill>
              </a:rPr>
              <a:t>07 —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Sécurité Backend — Stack Middlewares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4 couches de protection avant d'atteindre les routes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87171"/>
                </a:solidFill>
              </a:rPr>
              <a:t>Middlewares appliqués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helmet() — 15+ headers HTTP sécurisés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cors({ origin: FRONTEND_URL }) — whitelist stricte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rateLimit(100 req / 15min / IP) — anti brute-force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express.json() — parse body JSON uniquement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6366F1"/>
                </a:solidFill>
              </a:rPr>
              <a:t>Ce que chaque middleware bloque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Helmet : clickjacking, MIME sniffing, XSS basique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CORS : requêtes cross-origin non autorisées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Rate limit : attaques par force brute sur /auth/login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JSON parse : payload non-JSON rejeté (400)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85876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JWT middleware : toute requête sans token valide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87171"/>
                </a:solidFill>
              </a:rPr>
              <a:t>08 —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Sécurité — Couverture OWASP Top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6 risques critiques couverts dans ce MVP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34D399"/>
                </a:solidFill>
              </a:rPr>
              <a:t>Risques couverts 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A01 Broken Access Control → ownerGuard + JWT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A02 Cryptographic Failures → bcrypt salt 12 + HTTPS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A03 Injection → requêtes paramétrées ($1, $2)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A05 Security Misconfiguration → Helmet + CORS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A07 Auth Failures → JWT stateless + rate limiting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A09 Logging → Morgan + console.error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FD700"/>
                </a:solidFill>
              </a:rPr>
              <a:t>Roadmap sécurité 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A04 XSS côté frontend → Content Security Policy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A06 Outdated Components → Dependabot alerts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A08 SSRF → validation des URLs utilisateur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A10 Supply Chain → npm audit en CI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85876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Pentest → OWASP ZAP automatisé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87171"/>
                </a:solidFill>
              </a:rPr>
              <a:t>08 —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Authentification — bcrypt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Mots de passe hachés, jamais stockés en clair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87171"/>
                </a:solidFill>
              </a:rPr>
              <a:t>Fonctionnement de bcrypt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Inscription : bcrypt.hash(password, 12) → hash unique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Salt factor 12 : ~250ms par hash (délibérément lent)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Connexion : bcrypt.compare(password, stored_hash)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Compare est résistant aux timing attacks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Chaque hash est unique même pour le même mot de passe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Rainbow tables inefficaces (salt aléatoire intégré)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Le hash ne permet JAMAIS de retrouver le mot de passe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87171"/>
                </a:solidFill>
              </a:rPr>
              <a:t>08 —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Injection SQL — Prévention par Conception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Paramètres positionnels — jamais de concaténation de chaînes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87171"/>
                </a:solidFill>
              </a:rPr>
              <a:t>Approche dangereuse 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db.query(`SELECT * FROM users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  WHERE email = '${email}'`)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Si email = "' OR '1'='1"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→ retourne TOUS les utilisateurs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Si email = "; DROP TABLE users;--"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→ supprime toute la 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34D399"/>
                </a:solidFill>
              </a:rPr>
              <a:t>Approche sécurisée 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db.query('SELECT * FROM users WHERE email = $1', [email])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La valeur est envoyée séparément du SQL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pg-promise l'échappe automatiquement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Aucune interprétation SQL de la valeur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85876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Appliqué sur 100% des requêtes du projet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D700"/>
                </a:solidFill>
              </a:rPr>
              <a:t>08 —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Qualité &amp; Sécurité — SonarCloud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Analyse statique à chaque push — Quality Gate bloque les PRs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FD700"/>
                </a:solidFill>
              </a:rPr>
              <a:t>Métriques SonarCloud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0 Security Hotspot non résolu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0 Bug critique ou bloquant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Coverage : &gt; 80% sur les routes 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Code Smells : tous résolus avant merge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Quality Gate : statut affiché dans le README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Intégration GitHub Actions : scan automatique sur push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Rapport de couverture lcov généré par Jest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D700"/>
                </a:solidFill>
              </a:rPr>
              <a:t>09 —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Tests — Stratégie et Couverture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43 tests, 5 suites — Jest + Supertest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FD700"/>
                </a:solidFill>
              </a:rPr>
              <a:t>Architecture des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auth.routes.test.js     — 8 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transactions.routes.test.js — 7 tests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budgets.routes.test.js  — 10 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goals.routes.test.js    — 10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reports.routes.test.js  — 8 tests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Total : 43 tests, 5 suites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6366F1"/>
                </a:solidFill>
              </a:rPr>
              <a:t>Mocks utilisés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jest.mock('../db') → faux pg-promise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jest.mock('../models/report') → faux Mongoose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mockDb.query.mockResolvedValueOnce([...data...])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mockReport.find → { sort: jest.fn() } (chaîne fluente)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85876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Token JWT généré en setup pour les routes protégées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42092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1483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Tests isolés : aucun état partagé entre suites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D700"/>
                </a:solidFill>
              </a:rPr>
              <a:t>09 —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Tests — Exemple Concret (budgets)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Cas de test : 409 si catégorie déjà existante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24712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FD700"/>
                </a:solidFill>
              </a:rPr>
              <a:t>Ce que ce test vérifie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mockDb.oneOrNone retourne un budget existant (mock)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POST /api/budgets avec category: 'Alimentation'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Authorization: Bearer &lt;token valide&gt; dans le header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Résultat attendu : status 409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Body attendu : { error: '...existe déjà...' 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Sans mock : dépendrait d'une DB en état connu → fragile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59807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7"/>
            <a:ext cx="1060704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Avec mock : déterministe, rapide, reproductible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34D399"/>
                </a:solidFill>
              </a:rPr>
              <a:t>09 —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CI/CD — GitHub Actions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Déclenchement automatique sur push et pull_request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34D399"/>
                </a:solidFill>
              </a:rPr>
              <a:t>Étapes du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1. Checkout du code (actions/checkout)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2. Setup Node.js 20 (actions/setup-node)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3. npm install (installation dépendances)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4. npm test (43 tests Jest)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5. Génération rapport coverage lcov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6. SonarCloud Scan (quality gate)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6366F1"/>
                </a:solidFill>
              </a:rPr>
              <a:t>Effets sur le workflow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PR bloquée si un test échoue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PR bloquée si Quality Gate SonarCloud KO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Badge vert/rouge dans le README du repo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Historique des runs visible sur GitHub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85876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Notification automatique si build casse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34D399"/>
                </a:solidFill>
              </a:rPr>
              <a:t>10 —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Déploiement — Docker Compose 4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'docker compose up' démarre toute l'infrastructure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34D399"/>
                </a:solidFill>
              </a:rPr>
              <a:t>Les 4 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nginx  — Reverse proxy :80 → frontend/backend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frontend — Next.js :3000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backend  — Express :5001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postgres — PostgreSQL :5432 (volume persistant)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mongo    — MongoDB :27017 (volume persistant)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6366F1"/>
                </a:solidFill>
              </a:rPr>
              <a:t>Avantages Docker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Environnement identique dev / prod / jury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Un seul fichier docker-compose.yml à configurer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Images versionnées sur Docker Hub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init.sql exécuté au premier démarrage PostgreSQL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858767"/>
            <a:ext cx="18288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Healthchecks : backend attend que la DB soit prête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solidFill>
            <a:srgbClr val="31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80" y="254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6366F1"/>
                </a:solidFill>
              </a:rPr>
              <a:t>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Roadmap &amp; Perspectives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1430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0C8E0"/>
                </a:solidFill>
              </a:rPr>
              <a:t>Les prochaines étapes naturelles du projet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34D399"/>
                </a:solidFill>
              </a:rPr>
              <a:t>Réalisé en 8 semaines 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66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Application full-stack fonctionnelle et déployable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0720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JWT + bcrypt + OWASP — sécurité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772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4 domaines métier (transactions, budgets, goals, reports)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824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Polyglot persistence PostgreSQL + MongoDB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876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43 tests automatisés + SonarCloud + CI/CD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09287"/>
            <a:ext cx="18288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83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Docker Compose — 1 commande = tout démarre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874519"/>
            <a:ext cx="5486400" cy="4800601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9659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A855F7"/>
                </a:solidFill>
              </a:rPr>
              <a:t>Roadmap 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45668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3957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Application mobile React Native (iOS/Android)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80720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274624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IA : catégorisation automatique des transactions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15772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09676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Open Banking PSD2 — import relevés bancaires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50824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44728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Notifications push : budget dépassé en temps réel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85876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379780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Budgets partagés (famille / colocation)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4209287"/>
            <a:ext cx="182880" cy="182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148327"/>
            <a:ext cx="48463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0C8E0"/>
                </a:solidFill>
              </a:rPr>
              <a:t>Mode multi-devise avec taux de change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